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B39E"/>
                </a:solidFill>
                <a:latin typeface="Segoe UI"/>
              </a:rPr>
              <a:t>HYPERLOCAL ADVERTISING, REIMAGINED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Segoe UI"/>
              </a:rPr>
              <a:t>Jeeran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D8DFF5"/>
                </a:solidFill>
                <a:latin typeface="Segoe UI"/>
              </a:rPr>
              <a:t>One neighborhood. One QR stand. Offers that follow the customer home.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6B4A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Small shops can't compete for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F6B4A"/>
                </a:solidFill>
              </a:rPr>
              <a:t>●  </a:t>
            </a:r>
            <a:r>
              <a:rPr sz="1600">
                <a:solidFill>
                  <a:srgbClr val="1A1A2E"/>
                </a:solidFill>
              </a:rPr>
              <a:t>Digital ads are built for national brands, priced for national budgets.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F6B4A"/>
                </a:solidFill>
              </a:rPr>
              <a:t>●  </a:t>
            </a:r>
            <a:r>
              <a:rPr sz="1600">
                <a:solidFill>
                  <a:srgbClr val="1A1A2E"/>
                </a:solidFill>
              </a:rPr>
              <a:t>A neighborhood coffee shop can't outbid a chain for the same customer.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F6B4A"/>
                </a:solidFill>
              </a:rPr>
              <a:t>●  </a:t>
            </a:r>
            <a:r>
              <a:rPr sz="1600">
                <a:solidFill>
                  <a:srgbClr val="1A1A2E"/>
                </a:solidFill>
              </a:rPr>
              <a:t>Loyalty apps require a download most customers will never make for one shop.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F6B4A"/>
                </a:solidFill>
              </a:rPr>
              <a:t>●  </a:t>
            </a:r>
            <a:r>
              <a:rPr sz="1600">
                <a:solidFill>
                  <a:srgbClr val="1A1A2E"/>
                </a:solidFill>
              </a:rPr>
              <a:t>The most valuable audience — people already walking past — is the hardest one to reach with a message that actually lands.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50292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500" b="1">
                <a:solidFill>
                  <a:srgbClr val="1E3A8A"/>
                </a:solidFill>
              </a:rPr>
              <a:t>⚠️  What shops are left with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55555"/>
                </a:solidFill>
              </a:rPr>
              <a:t>Flyers, word of mouth, and expensive platforms built for someone else's business model — while the shop next door has exactly the customers they need.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0B4C8"/>
                </a:solidFill>
                <a:latin typeface="Segoe UI"/>
              </a:rPr>
              <a:t>JEERAN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0B4C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6B4A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One shared customer wallet, for every shop in the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55555"/>
                </a:solidFill>
                <a:latin typeface="Segoe UI"/>
              </a:rPr>
              <a:t>A customer scans any participating shop's QR stand once — and saves ONE wallet pass that then surfaces nearby offers from every other shop in the network,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500" b="1">
                <a:solidFill>
                  <a:srgbClr val="1E3A8A"/>
                </a:solidFill>
              </a:rPr>
              <a:t>📱  No app to install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55555"/>
                </a:solidFill>
              </a:rPr>
              <a:t>It's a pass in the wallet the customer already has open every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74320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500" b="1">
                <a:solidFill>
                  <a:srgbClr val="1E3A8A"/>
                </a:solidFill>
              </a:rPr>
              <a:t>🔒  No live tracking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55555"/>
                </a:solidFill>
              </a:rPr>
              <a:t>Offers follow the customer using the phone's own on-device location — Jeeran never sees where they 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74320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500" b="1">
                <a:solidFill>
                  <a:srgbClr val="1E3A8A"/>
                </a:solidFill>
              </a:rPr>
              <a:t>⚖️  No pay-to-play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55555"/>
                </a:solidFill>
              </a:rPr>
              <a:t>Placement is a real bid auction, with a loyalty tier that rewards genuine activity, not spend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0B4C8"/>
                </a:solidFill>
                <a:latin typeface="Segoe UI"/>
              </a:rPr>
              <a:t>JEERAN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0B4C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6B4A"/>
                </a:solidFill>
                <a:latin typeface="Segoe UI"/>
              </a:rPr>
              <a:t>CUSTOMER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From a scan to offers that show up on their 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7486" y="1874519"/>
            <a:ext cx="1874519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</a:rPr>
              <a:t>Scan the
QR stand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90293" y="2176271"/>
            <a:ext cx="219456" cy="347472"/>
          </a:xfrm>
          <a:prstGeom prst="rightArrow">
            <a:avLst/>
          </a:pr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28037" y="1874519"/>
            <a:ext cx="1874519" cy="960120"/>
          </a:xfrm>
          <a:prstGeom prst="roundRect">
            <a:avLst>
              <a:gd name="adj" fmla="val 18000"/>
            </a:avLst>
          </a:prstGeom>
          <a:solidFill>
            <a:srgbClr val="FFF7F3"/>
          </a:solidFill>
          <a:ln w="15875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B3441E"/>
                </a:solidFill>
              </a:rPr>
              <a:t>See live nearby
offers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20844" y="2176271"/>
            <a:ext cx="219456" cy="347472"/>
          </a:xfrm>
          <a:prstGeom prst="rightArrow">
            <a:avLst/>
          </a:pr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58588" y="1874519"/>
            <a:ext cx="1874519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</a:rPr>
              <a:t>Tap Add to
Google Wallet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51395" y="2176271"/>
            <a:ext cx="219456" cy="347472"/>
          </a:xfrm>
          <a:prstGeom prst="rightArrow">
            <a:avLst/>
          </a:pr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89139" y="1874519"/>
            <a:ext cx="1874519" cy="960120"/>
          </a:xfrm>
          <a:prstGeom prst="roundRect">
            <a:avLst>
              <a:gd name="adj" fmla="val 18000"/>
            </a:avLst>
          </a:prstGeom>
          <a:solidFill>
            <a:srgbClr val="FFF7F3"/>
          </a:solidFill>
          <a:ln w="15875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B3441E"/>
                </a:solidFill>
              </a:rPr>
              <a:t>Warm
confirmation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81946" y="2176271"/>
            <a:ext cx="219456" cy="347472"/>
          </a:xfrm>
          <a:prstGeom prst="rightArrow">
            <a:avLst/>
          </a:pr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9690" y="1874519"/>
            <a:ext cx="1874519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</a:rPr>
              <a:t>Offers keep
arriving</a:t>
            </a:r>
          </a:p>
        </p:txBody>
      </p:sp>
      <p:pic>
        <p:nvPicPr>
          <p:cNvPr id="14" name="Picture 13" descr="scan-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246120"/>
            <a:ext cx="5920571" cy="3246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3246120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FF6B4A"/>
                </a:solidFill>
              </a:rPr>
              <a:t>●  </a:t>
            </a:r>
            <a:r>
              <a:rPr sz="1350">
                <a:solidFill>
                  <a:srgbClr val="1A1A2E"/>
                </a:solidFill>
              </a:rPr>
              <a:t>One save covers every future offer, forever.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F6B4A"/>
                </a:solidFill>
              </a:rPr>
              <a:t>●  </a:t>
            </a:r>
            <a:r>
              <a:rPr sz="1350">
                <a:solidFill>
                  <a:srgbClr val="1A1A2E"/>
                </a:solidFill>
              </a:rPr>
              <a:t>Card content refreshes the moment a nearby offer changes.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F6B4A"/>
                </a:solidFill>
              </a:rPr>
              <a:t>●  </a:t>
            </a:r>
            <a:r>
              <a:rPr sz="1350">
                <a:solidFill>
                  <a:srgbClr val="1A1A2E"/>
                </a:solidFill>
              </a:rPr>
              <a:t>Lock-screen alert for a genuinely new offer nearby.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F6B4A"/>
                </a:solidFill>
              </a:rPr>
              <a:t>●  </a:t>
            </a:r>
            <a:r>
              <a:rPr sz="1350">
                <a:solidFill>
                  <a:srgbClr val="1A1A2E"/>
                </a:solidFill>
              </a:rPr>
              <a:t>Shown in the customer's own language automatically.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0B4C8"/>
                </a:solidFill>
                <a:latin typeface="Segoe UI"/>
              </a:rPr>
              <a:t>JEERAN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0B4C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6B4A"/>
                </a:solidFill>
                <a:latin typeface="Segoe UI"/>
              </a:rPr>
              <a:t>SHOP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From print-and-post to a ranked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7486" y="1874519"/>
            <a:ext cx="1874519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</a:rPr>
              <a:t>Onboard &amp;
set up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90293" y="2176271"/>
            <a:ext cx="219456" cy="347472"/>
          </a:xfrm>
          <a:prstGeom prst="rightArrow">
            <a:avLst/>
          </a:pr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28037" y="1874519"/>
            <a:ext cx="1874519" cy="960120"/>
          </a:xfrm>
          <a:prstGeom prst="roundRect">
            <a:avLst>
              <a:gd name="adj" fmla="val 18000"/>
            </a:avLst>
          </a:prstGeom>
          <a:solidFill>
            <a:srgbClr val="FFF7F3"/>
          </a:solidFill>
          <a:ln w="15875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B3441E"/>
                </a:solidFill>
              </a:rPr>
              <a:t>Print your
QR stand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20844" y="2176271"/>
            <a:ext cx="219456" cy="347472"/>
          </a:xfrm>
          <a:prstGeom prst="rightArrow">
            <a:avLst/>
          </a:pr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58588" y="1874519"/>
            <a:ext cx="1874519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</a:rPr>
              <a:t>Create a
campaign (bid)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51395" y="2176271"/>
            <a:ext cx="219456" cy="347472"/>
          </a:xfrm>
          <a:prstGeom prst="rightArrow">
            <a:avLst/>
          </a:pr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89139" y="1874519"/>
            <a:ext cx="1874519" cy="960120"/>
          </a:xfrm>
          <a:prstGeom prst="roundRect">
            <a:avLst>
              <a:gd name="adj" fmla="val 18000"/>
            </a:avLst>
          </a:prstGeom>
          <a:solidFill>
            <a:srgbClr val="FFF7F3"/>
          </a:solidFill>
          <a:ln w="15875">
            <a:solidFill>
              <a:srgbClr val="F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B3441E"/>
                </a:solidFill>
              </a:rPr>
              <a:t>Appear on nearby
shops' pages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81946" y="2176271"/>
            <a:ext cx="219456" cy="347472"/>
          </a:xfrm>
          <a:prstGeom prst="rightArrow">
            <a:avLst/>
          </a:prstGeom>
          <a:solidFill>
            <a:srgbClr val="9AA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9690" y="1874519"/>
            <a:ext cx="1874519" cy="9601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</a:rPr>
              <a:t>Redeem &amp;
earn credit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46120"/>
            <a:ext cx="51206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500" b="1">
                <a:solidFill>
                  <a:srgbClr val="1E3A8A"/>
                </a:solidFill>
              </a:rPr>
              <a:t>🎯  Fair, contested placement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55555"/>
                </a:solidFill>
              </a:rPr>
              <a:t>Never your own campaign, never a same-category competitor. Highest bid wins — your loyalty tier only breaks a genuinely close tie.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246120"/>
            <a:ext cx="55778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500" b="1">
                <a:solidFill>
                  <a:srgbClr val="1E3A8A"/>
                </a:solidFill>
              </a:rPr>
              <a:t>📈  Real acquisition, not just impressions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55555"/>
                </a:solidFill>
              </a:rPr>
              <a:t>Earn credit for recruiting a new customer, for repeat visits, and for every redemption your own offers drive — with a visible tier and a real milestone bonus when you level 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0B4C8"/>
                </a:solidFill>
                <a:latin typeface="Segoe UI"/>
              </a:rPr>
              <a:t>JEERAN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0B4C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6B4A"/>
                </a:solidFill>
                <a:latin typeface="Segoe UI"/>
              </a:rPr>
              <a:t>IN-STORE REDEMPTION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Staff scan, confirm, done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deem-succ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37360"/>
            <a:ext cx="8701035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7830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50" b="1">
                <a:solidFill>
                  <a:srgbClr val="FF6B4A"/>
                </a:solidFill>
              </a:rPr>
              <a:t>●  </a:t>
            </a:r>
            <a:r>
              <a:rPr sz="1450">
                <a:solidFill>
                  <a:srgbClr val="1A1A2E"/>
                </a:solidFill>
              </a:rPr>
              <a:t>Camera scan on any device — with a manual-entry fallback that always works, including on iOS Safari.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FF6B4A"/>
                </a:solidFill>
              </a:rPr>
              <a:t>●  </a:t>
            </a:r>
            <a:r>
              <a:rPr sz="1450">
                <a:solidFill>
                  <a:srgbClr val="1A1A2E"/>
                </a:solidFill>
              </a:rPr>
              <a:t>The pass barcode is an opaque, signed token — never a URL, never guessable.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FF6B4A"/>
                </a:solidFill>
              </a:rPr>
              <a:t>●  </a:t>
            </a:r>
            <a:r>
              <a:rPr sz="1450">
                <a:solidFill>
                  <a:srgbClr val="1A1A2E"/>
                </a:solidFill>
              </a:rPr>
              <a:t>Staff see exactly why a scan didn't work: no active offer, already redeemed, or a dead pass — not just a generic failure.</a:t>
            </a:r>
          </a:p>
          <a:p>
            <a:pPr>
              <a:spcAft>
                <a:spcPts val="1400"/>
              </a:spcAft>
            </a:pPr>
            <a:r>
              <a:rPr sz="1450" b="1">
                <a:solidFill>
                  <a:srgbClr val="FF6B4A"/>
                </a:solidFill>
              </a:rPr>
              <a:t>●  </a:t>
            </a:r>
            <a:r>
              <a:rPr sz="1450">
                <a:solidFill>
                  <a:srgbClr val="1A1A2E"/>
                </a:solidFill>
              </a:rPr>
              <a:t>A successful redemption instantly moves credit to the shop that originally recruited that customer, and checks whether it just pushed a shop into a new loyalty tier.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0B4C8"/>
                </a:solidFill>
                <a:latin typeface="Segoe UI"/>
              </a:rPr>
              <a:t>JEERAN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0B4C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6B4A"/>
                </a:solidFill>
                <a:latin typeface="Segoe UI"/>
              </a:rPr>
              <a:t>LOYALTY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</a:rPr>
              <a:t>A visible reward for real, ongoing activity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05840" cy="381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6607" y="1920240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9050">
            <a:solidFill>
              <a:srgbClr val="B46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/>
              <a:t>🥉</a:t>
            </a:r>
          </a:p>
          <a:p>
            <a:pPr algn="ctr"/>
            <a:r>
              <a:rPr sz="1800" b="1">
                <a:solidFill>
                  <a:srgbClr val="B46A2A"/>
                </a:solidFill>
              </a:rPr>
              <a:t>Bronze</a:t>
            </a:r>
          </a:p>
          <a:p>
            <a:pPr algn="ctr"/>
            <a:r>
              <a:rPr sz="1150">
                <a:solidFill>
                  <a:srgbClr val="555555"/>
                </a:solidFill>
              </a:rPr>
              <a:t>Everyone starts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9807" y="1920240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9050">
            <a:solidFill>
              <a:srgbClr val="8A8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/>
              <a:t>🥈</a:t>
            </a:r>
          </a:p>
          <a:p>
            <a:pPr algn="ctr"/>
            <a:r>
              <a:rPr sz="1800" b="1">
                <a:solidFill>
                  <a:srgbClr val="8A8F9E"/>
                </a:solidFill>
              </a:rPr>
              <a:t>Silver</a:t>
            </a:r>
          </a:p>
          <a:p>
            <a:pPr algn="ctr"/>
            <a:r>
              <a:rPr sz="1150">
                <a:solidFill>
                  <a:srgbClr val="555555"/>
                </a:solidFill>
              </a:rPr>
              <a:t>5 redemptions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920240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9050">
            <a:solidFill>
              <a:srgbClr val="C99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/>
              <a:t>🥇</a:t>
            </a:r>
          </a:p>
          <a:p>
            <a:pPr algn="ctr"/>
            <a:r>
              <a:rPr sz="1800" b="1">
                <a:solidFill>
                  <a:srgbClr val="C99A1E"/>
                </a:solidFill>
              </a:rPr>
              <a:t>Gold</a:t>
            </a:r>
          </a:p>
          <a:p>
            <a:pPr algn="ctr"/>
            <a:r>
              <a:rPr sz="1150">
                <a:solidFill>
                  <a:srgbClr val="555555"/>
                </a:solidFill>
              </a:rPr>
              <a:t>20 redemptions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6207" y="1920240"/>
            <a:ext cx="2468880" cy="2011680"/>
          </a:xfrm>
          <a:prstGeom prst="roundRect">
            <a:avLst>
              <a:gd name="adj" fmla="val 8000"/>
            </a:avLst>
          </a:prstGeom>
          <a:solidFill>
            <a:srgbClr val="F6F7FB"/>
          </a:solidFill>
          <a:ln w="19050">
            <a:solidFill>
              <a:srgbClr val="5B4C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/>
              <a:t>💎</a:t>
            </a:r>
          </a:p>
          <a:p>
            <a:pPr algn="ctr"/>
            <a:r>
              <a:rPr sz="1800" b="1">
                <a:solidFill>
                  <a:srgbClr val="5B4CB8"/>
                </a:solidFill>
              </a:rPr>
              <a:t>Platinum</a:t>
            </a:r>
          </a:p>
          <a:p>
            <a:pPr algn="ctr"/>
            <a:r>
              <a:rPr sz="1150">
                <a:solidFill>
                  <a:srgbClr val="555555"/>
                </a:solidFill>
              </a:rPr>
              <a:t>50 redemptions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51960"/>
            <a:ext cx="51206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500" b="1">
                <a:solidFill>
                  <a:srgbClr val="1E3A8A"/>
                </a:solidFill>
              </a:rPr>
              <a:t>🎉  Milestone bonus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55555"/>
                </a:solidFill>
              </a:rPr>
              <a:t>A one-time credit the moment a shop crosses into a new tier — announced with a real on-dashboard moment, never a silent number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251960"/>
            <a:ext cx="5577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 bIns="127000"/>
          <a:lstStyle/>
          <a:p>
            <a:pPr algn="ctr"/>
            <a:r>
              <a:rPr sz="1500" b="1">
                <a:solidFill>
                  <a:srgbClr val="1E3A8A"/>
                </a:solidFill>
              </a:rPr>
              <a:t>⚖️  Ranking edge, not a shortcut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555555"/>
                </a:solidFill>
              </a:rPr>
              <a:t>Tier only decides ordering when two shops' bids are already close — a strong bid always wins outright, tier never overrides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0B4C8"/>
                </a:solidFill>
                <a:latin typeface="Segoe UI"/>
              </a:rPr>
              <a:t>JEERAN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0B4C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6B4A"/>
                </a:solidFill>
                <a:latin typeface="Segoe UI"/>
              </a:rPr>
              <a:t>WHY JEERAN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Built for neighborhoods, not national budgets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24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b="1" sz="1500">
                <a:solidFill>
                  <a:srgbClr val="FF6B4A"/>
                </a:solidFill>
              </a:rPr>
              <a:t>Zero install friction  —  </a:t>
            </a:r>
            <a:r>
              <a:rPr sz="1400">
                <a:solidFill>
                  <a:srgbClr val="E3E7F7"/>
                </a:solidFill>
              </a:rPr>
              <a:t>A Wallet pass, not another app — customers already carry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26080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24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b="1" sz="1500">
                <a:solidFill>
                  <a:srgbClr val="FF6B4A"/>
                </a:solidFill>
              </a:rPr>
              <a:t>Privacy by design  —  </a:t>
            </a:r>
            <a:r>
              <a:rPr sz="1400">
                <a:solidFill>
                  <a:srgbClr val="E3E7F7"/>
                </a:solidFill>
              </a:rPr>
              <a:t>No server-side location tracking — the OS delivers 'follows you' entirely on-device.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023360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24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b="1" sz="1500">
                <a:solidFill>
                  <a:srgbClr val="FF6B4A"/>
                </a:solidFill>
              </a:rPr>
              <a:t>Fair placement  —  </a:t>
            </a:r>
            <a:r>
              <a:rPr sz="1400">
                <a:solidFill>
                  <a:srgbClr val="E3E7F7"/>
                </a:solidFill>
              </a:rPr>
              <a:t>A real bid auction with loyalty as a tiebreaker, not a pay-to-win leaderboard.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243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b="1" sz="1500">
                <a:solidFill>
                  <a:srgbClr val="FF6B4A"/>
                </a:solidFill>
              </a:rPr>
              <a:t>Self-reinforcing network  —  </a:t>
            </a:r>
            <a:r>
              <a:rPr sz="1400">
                <a:solidFill>
                  <a:srgbClr val="E3E7F7"/>
                </a:solidFill>
              </a:rPr>
              <a:t>Every new shop is both a new advertiser and a new discovery point for every other shop.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B0B4C8"/>
                </a:solidFill>
                <a:latin typeface="Segoe UI"/>
              </a:rPr>
              <a:t>JEERAN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10528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B0B4C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Every shop is a stage.</a:t>
            </a:r>
          </a:p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Every neighbor is an audience.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EAE3"/>
                </a:solidFill>
                <a:latin typeface="Segoe UI"/>
              </a:rPr>
              <a:t>Jeeran Network — advertising that stays local, follows the customer, and rewards the shops that earn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